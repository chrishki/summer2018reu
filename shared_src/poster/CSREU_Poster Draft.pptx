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1"/>
  </p:sldMasterIdLst>
  <p:sldIdLst>
    <p:sldId id="262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AECE578-DD38-4918-BB4E-B95F761B401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CCFF"/>
    <a:srgbClr val="66CCFF"/>
    <a:srgbClr val="6BA5FB"/>
    <a:srgbClr val="2A6BEE"/>
    <a:srgbClr val="4472C4"/>
    <a:srgbClr val="1CACE3"/>
    <a:srgbClr val="A7BCE4"/>
    <a:srgbClr val="E4EBF7"/>
    <a:srgbClr val="EF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>
        <p:scale>
          <a:sx n="25" d="100"/>
          <a:sy n="25" d="100"/>
        </p:scale>
        <p:origin x="772" y="-436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2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9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11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4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16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17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9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12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6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2B027-CDB8-4684-A62D-BD27F8BC2621}" type="datetimeFigureOut">
              <a:rPr lang="en-US" smtClean="0"/>
              <a:t>8/6/2018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F5441-C397-422D-948A-1C5B695C47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7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image" Target="../media/image16.gif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5.gif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4" Type="http://schemas.openxmlformats.org/officeDocument/2006/relationships/image" Target="../media/image3.sv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0438D6C-2E00-40A6-B9CE-1B88D6B14644}"/>
              </a:ext>
            </a:extLst>
          </p:cNvPr>
          <p:cNvSpPr/>
          <p:nvPr/>
        </p:nvSpPr>
        <p:spPr>
          <a:xfrm>
            <a:off x="16571068" y="16874489"/>
            <a:ext cx="5983983" cy="2141437"/>
          </a:xfrm>
          <a:prstGeom prst="roundRect">
            <a:avLst/>
          </a:prstGeom>
          <a:solidFill>
            <a:srgbClr val="99CCFF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C7A37A-CACA-4CD6-8526-3888A9825463}"/>
              </a:ext>
            </a:extLst>
          </p:cNvPr>
          <p:cNvSpPr/>
          <p:nvPr/>
        </p:nvSpPr>
        <p:spPr>
          <a:xfrm>
            <a:off x="10335749" y="16878726"/>
            <a:ext cx="5875297" cy="2821862"/>
          </a:xfrm>
          <a:prstGeom prst="roundRect">
            <a:avLst/>
          </a:prstGeom>
          <a:solidFill>
            <a:srgbClr val="99CCFF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C628852-4395-4832-96AA-7A690844F332}"/>
              </a:ext>
            </a:extLst>
          </p:cNvPr>
          <p:cNvSpPr/>
          <p:nvPr/>
        </p:nvSpPr>
        <p:spPr>
          <a:xfrm>
            <a:off x="0" y="-1251"/>
            <a:ext cx="32918400" cy="418944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12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3F3DC-8AB9-449B-9CE4-6DA31D02C4A2}"/>
              </a:ext>
            </a:extLst>
          </p:cNvPr>
          <p:cNvSpPr/>
          <p:nvPr/>
        </p:nvSpPr>
        <p:spPr>
          <a:xfrm>
            <a:off x="2235202" y="-113536"/>
            <a:ext cx="28447999" cy="4731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933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Image Classification of Dewetting Microscopy</a:t>
            </a:r>
          </a:p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Using Artificial Neural Networks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89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Kim C,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Sutrisno R,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Chua K,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Karim A,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Toti G</a:t>
            </a:r>
          </a:p>
          <a:p>
            <a:pPr algn="ctr"/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Brown University, Providence, RI; 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Science, University of Houston, Houston, TX;</a:t>
            </a:r>
          </a:p>
          <a:p>
            <a:pPr algn="ctr"/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Cornell University, Ithaca, NY; 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Department of Chemical and Biomolecular Engineering, University of Houston</a:t>
            </a:r>
          </a:p>
          <a:p>
            <a:pPr algn="ctr"/>
            <a:br>
              <a:rPr lang="en-US" sz="1778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77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894389-0AAD-40E3-999F-FDC0161B6BE9}"/>
              </a:ext>
            </a:extLst>
          </p:cNvPr>
          <p:cNvSpPr/>
          <p:nvPr/>
        </p:nvSpPr>
        <p:spPr>
          <a:xfrm>
            <a:off x="223186" y="4420270"/>
            <a:ext cx="9689683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14665-F3EF-4A8C-BAD6-4FBD6C39AB9F}"/>
              </a:ext>
            </a:extLst>
          </p:cNvPr>
          <p:cNvSpPr/>
          <p:nvPr/>
        </p:nvSpPr>
        <p:spPr>
          <a:xfrm>
            <a:off x="250390" y="10564438"/>
            <a:ext cx="9628612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CC03FF0-E1F3-44D4-A17E-207C435D80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322573" y="13085413"/>
            <a:ext cx="94827" cy="30069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47BFFB6-92B5-4151-BDB0-A25BA1528716}"/>
              </a:ext>
            </a:extLst>
          </p:cNvPr>
          <p:cNvSpPr/>
          <p:nvPr/>
        </p:nvSpPr>
        <p:spPr>
          <a:xfrm>
            <a:off x="26322574" y="13091645"/>
            <a:ext cx="79598" cy="20766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711"/>
              </a:spcAft>
            </a:pPr>
            <a:r>
              <a:rPr lang="en-US" sz="978" dirty="0">
                <a:latin typeface="Arial" panose="020B0604020202020204" pitchFamily="34" charset="0"/>
                <a:ea typeface="Georgia" panose="02040502050405020303" pitchFamily="18" charset="0"/>
                <a:cs typeface="Arial" panose="020B0604020202020204" pitchFamily="34" charset="0"/>
              </a:rPr>
              <a:t>  </a:t>
            </a:r>
            <a:endParaRPr lang="en-US" sz="1067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4A3611-39EA-41D5-BCBF-FF050B931DC6}"/>
              </a:ext>
            </a:extLst>
          </p:cNvPr>
          <p:cNvSpPr/>
          <p:nvPr/>
        </p:nvSpPr>
        <p:spPr>
          <a:xfrm>
            <a:off x="26382181" y="13081349"/>
            <a:ext cx="43459" cy="22572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711"/>
              </a:spcAft>
            </a:pPr>
            <a:r>
              <a:rPr lang="en-US" sz="1067" dirty="0">
                <a:latin typeface="Arial" panose="020B0604020202020204" pitchFamily="34" charset="0"/>
                <a:ea typeface="Georgia" panose="02040502050405020303" pitchFamily="18" charset="0"/>
                <a:cs typeface="Arial" panose="020B0604020202020204" pitchFamily="34" charset="0"/>
              </a:rPr>
              <a:t> </a:t>
            </a:r>
            <a:endParaRPr lang="en-US" sz="1067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A749B29-A7C5-4572-A5B5-6C9AFCCE7652}"/>
              </a:ext>
            </a:extLst>
          </p:cNvPr>
          <p:cNvSpPr/>
          <p:nvPr/>
        </p:nvSpPr>
        <p:spPr>
          <a:xfrm>
            <a:off x="23151831" y="4420270"/>
            <a:ext cx="9532014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DC440D1-12D2-4274-847B-704987EDC37D}"/>
              </a:ext>
            </a:extLst>
          </p:cNvPr>
          <p:cNvSpPr/>
          <p:nvPr/>
        </p:nvSpPr>
        <p:spPr>
          <a:xfrm>
            <a:off x="23159981" y="15166242"/>
            <a:ext cx="9532014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B4D2552-A190-4403-8478-AA11973694E0}"/>
              </a:ext>
            </a:extLst>
          </p:cNvPr>
          <p:cNvSpPr/>
          <p:nvPr/>
        </p:nvSpPr>
        <p:spPr>
          <a:xfrm>
            <a:off x="23159981" y="11745775"/>
            <a:ext cx="9532014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DD5F5245-346B-4047-8EF9-17AD9E0C8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934" y="1061421"/>
            <a:ext cx="2099732" cy="2099732"/>
          </a:xfrm>
          <a:prstGeom prst="rect">
            <a:avLst/>
          </a:prstGeom>
        </p:spPr>
      </p:pic>
      <p:pic>
        <p:nvPicPr>
          <p:cNvPr id="4" name="Picture 2" descr="Image result for nsf logo">
            <a:extLst>
              <a:ext uri="{FF2B5EF4-FFF2-40B4-BE49-F238E27FC236}">
                <a16:creationId xmlns:a16="http://schemas.microsoft.com/office/drawing/2014/main" id="{AD981942-D85E-44F7-85AB-24E1E2AC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3446" y="655303"/>
            <a:ext cx="2612314" cy="262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D0036-6080-438B-84A4-A97AE902A8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072" y="18163537"/>
            <a:ext cx="4054793" cy="3017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266E8-DAAF-4189-9A77-C69D0E4049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65" y="18146154"/>
            <a:ext cx="4054793" cy="3017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5116B7-70F6-4891-9071-596E1B75EB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65" y="15011698"/>
            <a:ext cx="4054793" cy="30175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43B3D0-2BF6-449B-BC19-DC46F3DD86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072" y="15011698"/>
            <a:ext cx="4054793" cy="30175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179962C-8C31-4EDB-9C19-C4829FC22D50}"/>
              </a:ext>
            </a:extLst>
          </p:cNvPr>
          <p:cNvSpPr/>
          <p:nvPr/>
        </p:nvSpPr>
        <p:spPr>
          <a:xfrm>
            <a:off x="64772" y="11585737"/>
            <a:ext cx="9785119" cy="321113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79400" indent="-27940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Dewetting is a process that leads thin polymer coatings to separate from their substrate. It occurs when conditions are more favorable for molecules of a liquid to coalesce.</a:t>
            </a:r>
          </a:p>
          <a:p>
            <a:pPr marL="279400" indent="-27940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Chemical engineers are interested in determining what conditions bring to different degrees of dewetting.</a:t>
            </a:r>
          </a:p>
          <a:p>
            <a:pPr marL="279400" indent="-27940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Machine learning can be used for classification of dewetting stages.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6E70E3-8C55-4770-AF87-A4D03320FF06}"/>
              </a:ext>
            </a:extLst>
          </p:cNvPr>
          <p:cNvSpPr/>
          <p:nvPr/>
        </p:nvSpPr>
        <p:spPr>
          <a:xfrm>
            <a:off x="10046166" y="15194339"/>
            <a:ext cx="12729688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 (NN)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579FA9F-284A-4640-806A-849A9EDD0EDD}"/>
              </a:ext>
            </a:extLst>
          </p:cNvPr>
          <p:cNvSpPr/>
          <p:nvPr/>
        </p:nvSpPr>
        <p:spPr>
          <a:xfrm>
            <a:off x="23236021" y="17688048"/>
            <a:ext cx="9532014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BF43714-BB5A-4679-816F-D93B9C827D40}"/>
              </a:ext>
            </a:extLst>
          </p:cNvPr>
          <p:cNvSpPr/>
          <p:nvPr/>
        </p:nvSpPr>
        <p:spPr>
          <a:xfrm>
            <a:off x="10046165" y="4410938"/>
            <a:ext cx="12959367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852161-0B53-453B-A992-6AC0431DAEBC}"/>
              </a:ext>
            </a:extLst>
          </p:cNvPr>
          <p:cNvSpPr/>
          <p:nvPr/>
        </p:nvSpPr>
        <p:spPr>
          <a:xfrm>
            <a:off x="609604" y="21286034"/>
            <a:ext cx="88040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Figs. 1-4: Dewetting Stages (None, Early, Intermediate, Late) 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827F78-B517-4855-B518-CDF72E4F3AEB}"/>
              </a:ext>
            </a:extLst>
          </p:cNvPr>
          <p:cNvSpPr/>
          <p:nvPr/>
        </p:nvSpPr>
        <p:spPr>
          <a:xfrm>
            <a:off x="2139962" y="15550802"/>
            <a:ext cx="1498599" cy="1939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2002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D208F9-9235-4963-8675-CF1FE66AB899}"/>
              </a:ext>
            </a:extLst>
          </p:cNvPr>
          <p:cNvSpPr/>
          <p:nvPr/>
        </p:nvSpPr>
        <p:spPr>
          <a:xfrm>
            <a:off x="6362169" y="15550802"/>
            <a:ext cx="1498599" cy="1939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2002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659B9F-CCAD-4F8E-8571-EE4EE43ADADD}"/>
              </a:ext>
            </a:extLst>
          </p:cNvPr>
          <p:cNvSpPr/>
          <p:nvPr/>
        </p:nvSpPr>
        <p:spPr>
          <a:xfrm>
            <a:off x="2139962" y="18685258"/>
            <a:ext cx="1498599" cy="1939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2002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DAFD01A-8219-4149-9197-8A95770D6082}"/>
              </a:ext>
            </a:extLst>
          </p:cNvPr>
          <p:cNvSpPr/>
          <p:nvPr/>
        </p:nvSpPr>
        <p:spPr>
          <a:xfrm>
            <a:off x="6362169" y="18702641"/>
            <a:ext cx="1498599" cy="1939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12002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3F898C6-B35D-4251-A7B1-80FD869995EF}"/>
              </a:ext>
            </a:extLst>
          </p:cNvPr>
          <p:cNvSpPr/>
          <p:nvPr/>
        </p:nvSpPr>
        <p:spPr>
          <a:xfrm>
            <a:off x="23171285" y="16151487"/>
            <a:ext cx="9484979" cy="1436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spcAft>
                <a:spcPts val="4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Increase training set size to enhance performance</a:t>
            </a:r>
          </a:p>
          <a:p>
            <a:pPr marL="514350" indent="-514350" algn="just">
              <a:spcAft>
                <a:spcPts val="4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Test robustness of model across different polymer and image acquisition methods.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77C65F-873D-42F6-AA33-813F68AD226A}"/>
              </a:ext>
            </a:extLst>
          </p:cNvPr>
          <p:cNvSpPr/>
          <p:nvPr/>
        </p:nvSpPr>
        <p:spPr>
          <a:xfrm>
            <a:off x="936896" y="15079838"/>
            <a:ext cx="10430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n=4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51070F-6B4F-434C-A843-D67DA7B4597B}"/>
              </a:ext>
            </a:extLst>
          </p:cNvPr>
          <p:cNvSpPr/>
          <p:nvPr/>
        </p:nvSpPr>
        <p:spPr>
          <a:xfrm>
            <a:off x="940144" y="18227849"/>
            <a:ext cx="10430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n=25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240C92-56FE-402A-AB0A-6A38185006EF}"/>
              </a:ext>
            </a:extLst>
          </p:cNvPr>
          <p:cNvSpPr/>
          <p:nvPr/>
        </p:nvSpPr>
        <p:spPr>
          <a:xfrm>
            <a:off x="5146724" y="18227848"/>
            <a:ext cx="10430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n=23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591171-FB79-493D-8361-FBF7CDC5E9E0}"/>
              </a:ext>
            </a:extLst>
          </p:cNvPr>
          <p:cNvSpPr/>
          <p:nvPr/>
        </p:nvSpPr>
        <p:spPr>
          <a:xfrm>
            <a:off x="5142479" y="15079838"/>
            <a:ext cx="104301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n=11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5F17E5-C2A2-42B2-8D67-253D1A332C20}"/>
              </a:ext>
            </a:extLst>
          </p:cNvPr>
          <p:cNvGrpSpPr/>
          <p:nvPr/>
        </p:nvGrpSpPr>
        <p:grpSpPr>
          <a:xfrm>
            <a:off x="11102652" y="7024332"/>
            <a:ext cx="10559154" cy="4045330"/>
            <a:chOff x="14640787" y="9545904"/>
            <a:chExt cx="15838728" cy="606799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F32A410-740A-4609-8990-E6FA98A8C9E4}"/>
                </a:ext>
              </a:extLst>
            </p:cNvPr>
            <p:cNvGrpSpPr/>
            <p:nvPr/>
          </p:nvGrpSpPr>
          <p:grpSpPr>
            <a:xfrm>
              <a:off x="14640787" y="9545905"/>
              <a:ext cx="7690425" cy="5650114"/>
              <a:chOff x="14804072" y="8809305"/>
              <a:chExt cx="7690425" cy="5650114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10459BD-D48C-4E88-8E77-196DE03E19F6}"/>
                  </a:ext>
                </a:extLst>
              </p:cNvPr>
              <p:cNvSpPr/>
              <p:nvPr/>
            </p:nvSpPr>
            <p:spPr>
              <a:xfrm>
                <a:off x="14835320" y="13813089"/>
                <a:ext cx="7659177" cy="646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Fig. 5: Grayscale Image After MFN </a:t>
                </a: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B307927-EC10-4015-BC5C-D72D2C34A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04072" y="8809305"/>
                <a:ext cx="7372351" cy="48006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FAC45CE-7FCE-466D-90C2-DE9A14575652}"/>
                </a:ext>
              </a:extLst>
            </p:cNvPr>
            <p:cNvGrpSpPr/>
            <p:nvPr/>
          </p:nvGrpSpPr>
          <p:grpSpPr>
            <a:xfrm>
              <a:off x="23107167" y="9545904"/>
              <a:ext cx="7372348" cy="4800598"/>
              <a:chOff x="23296404" y="12862895"/>
              <a:chExt cx="7372348" cy="4800598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C96AAB21-CCA9-48BE-A612-6188A0D66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96404" y="12862895"/>
                <a:ext cx="7372348" cy="4800598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2FA75D-94CC-465D-ABD3-8C3D144D599E}"/>
                  </a:ext>
                </a:extLst>
              </p:cNvPr>
              <p:cNvSpPr/>
              <p:nvPr/>
            </p:nvSpPr>
            <p:spPr>
              <a:xfrm>
                <a:off x="23325587" y="12862896"/>
                <a:ext cx="3803304" cy="2503374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76200">
                <a:solidFill>
                  <a:srgbClr val="FF0000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E78EEEA-6975-4694-BD6D-523D603AF2EA}"/>
                  </a:ext>
                </a:extLst>
              </p:cNvPr>
              <p:cNvSpPr/>
              <p:nvPr/>
            </p:nvSpPr>
            <p:spPr>
              <a:xfrm>
                <a:off x="25347230" y="12862896"/>
                <a:ext cx="3517635" cy="2559153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76200">
                <a:solidFill>
                  <a:srgbClr val="FFC000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02B438E-657D-49F8-B1B6-5584D8EACB6D}"/>
                  </a:ext>
                </a:extLst>
              </p:cNvPr>
              <p:cNvSpPr/>
              <p:nvPr/>
            </p:nvSpPr>
            <p:spPr>
              <a:xfrm>
                <a:off x="23308820" y="14054091"/>
                <a:ext cx="3820074" cy="2503374"/>
              </a:xfrm>
              <a:prstGeom prst="rect">
                <a:avLst/>
              </a:prstGeom>
              <a:solidFill>
                <a:srgbClr val="33CCFF">
                  <a:alpha val="10000"/>
                </a:srgbClr>
              </a:solidFill>
              <a:ln w="76200">
                <a:solidFill>
                  <a:srgbClr val="1CACE3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D14127F-6EAF-40B3-93B1-C36C3055993B}"/>
                </a:ext>
              </a:extLst>
            </p:cNvPr>
            <p:cNvSpPr/>
            <p:nvPr/>
          </p:nvSpPr>
          <p:spPr>
            <a:xfrm>
              <a:off x="23368139" y="14459735"/>
              <a:ext cx="6850403" cy="1154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Fig. 6: Saturation Image after MFN with Striding Grid Representation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96D8199-78C7-47A0-92E5-F24C3129CAE9}"/>
              </a:ext>
            </a:extLst>
          </p:cNvPr>
          <p:cNvSpPr txBox="1"/>
          <p:nvPr/>
        </p:nvSpPr>
        <p:spPr>
          <a:xfrm>
            <a:off x="10142484" y="5557302"/>
            <a:ext cx="1043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 Convert to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grayscale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saturation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images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3724EE-EC7A-4D48-96EF-9537ED8E7609}"/>
              </a:ext>
            </a:extLst>
          </p:cNvPr>
          <p:cNvSpPr txBox="1"/>
          <p:nvPr/>
        </p:nvSpPr>
        <p:spPr>
          <a:xfrm>
            <a:off x="10142485" y="6138297"/>
            <a:ext cx="1263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Apply Mean Filter Normalization (MFN) to reduce microscopy artifacts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B8FA94-D3FC-4564-822C-2ED9FBEC7287}"/>
              </a:ext>
            </a:extLst>
          </p:cNvPr>
          <p:cNvSpPr txBox="1"/>
          <p:nvPr/>
        </p:nvSpPr>
        <p:spPr>
          <a:xfrm>
            <a:off x="10046166" y="11162826"/>
            <a:ext cx="1135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 Calculate magnitude independent features from entire image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8EE244-3E58-4F87-99FE-BAFCCA57A7FE}"/>
              </a:ext>
            </a:extLst>
          </p:cNvPr>
          <p:cNvSpPr txBox="1"/>
          <p:nvPr/>
        </p:nvSpPr>
        <p:spPr>
          <a:xfrm>
            <a:off x="10042715" y="13591276"/>
            <a:ext cx="12272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9505" indent="-389505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Quantify homogeneity by calculating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deviations of features with respect to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A074D14-4FF6-4551-8F80-B631C02C9E9A}"/>
                  </a:ext>
                </a:extLst>
              </p:cNvPr>
              <p:cNvSpPr txBox="1"/>
              <p:nvPr/>
            </p:nvSpPr>
            <p:spPr>
              <a:xfrm>
                <a:off x="14493582" y="11843690"/>
                <a:ext cx="3815442" cy="1692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entropy</a:t>
                </a:r>
                <a:endParaRPr lang="en-US" sz="2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255</m:t>
                          </m:r>
                        </m:sup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A074D14-4FF6-4551-8F80-B631C02C9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3582" y="11843690"/>
                <a:ext cx="3815442" cy="1692195"/>
              </a:xfrm>
              <a:prstGeom prst="rect">
                <a:avLst/>
              </a:prstGeom>
              <a:blipFill>
                <a:blip r:embed="rId12"/>
                <a:stretch>
                  <a:fillRect t="-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ECE6D8-0588-46E5-91BE-1EF14B54AE28}"/>
                  </a:ext>
                </a:extLst>
              </p:cNvPr>
              <p:cNvSpPr txBox="1"/>
              <p:nvPr/>
            </p:nvSpPr>
            <p:spPr>
              <a:xfrm>
                <a:off x="11122566" y="11807985"/>
                <a:ext cx="2969125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intensity variance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DECE6D8-0588-46E5-91BE-1EF14B54A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2566" y="11807985"/>
                <a:ext cx="2969125" cy="1661993"/>
              </a:xfrm>
              <a:prstGeom prst="rect">
                <a:avLst/>
              </a:prstGeom>
              <a:blipFill>
                <a:blip r:embed="rId13"/>
                <a:stretch>
                  <a:fillRect t="-3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8810A1B-2C60-4602-BD4A-753658E581A7}"/>
                  </a:ext>
                </a:extLst>
              </p:cNvPr>
              <p:cNvSpPr txBox="1"/>
              <p:nvPr/>
            </p:nvSpPr>
            <p:spPr>
              <a:xfrm>
                <a:off x="18814971" y="11831841"/>
                <a:ext cx="2256404" cy="1832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skewness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𝑋</m:t>
                                      </m:r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8810A1B-2C60-4602-BD4A-753658E58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4971" y="11831841"/>
                <a:ext cx="2256404" cy="1832874"/>
              </a:xfrm>
              <a:prstGeom prst="rect">
                <a:avLst/>
              </a:prstGeom>
              <a:blipFill>
                <a:blip r:embed="rId14"/>
                <a:stretch>
                  <a:fillRect t="-3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B5F0E98C-1E09-42A8-8F93-36971389CC50}"/>
              </a:ext>
            </a:extLst>
          </p:cNvPr>
          <p:cNvSpPr/>
          <p:nvPr/>
        </p:nvSpPr>
        <p:spPr>
          <a:xfrm>
            <a:off x="23180836" y="18709155"/>
            <a:ext cx="95320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research was made possible by a NSF grant to the University of Houston Department of Computer Science.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310458-9CE9-4C7A-B633-E7C8866758CD}"/>
              </a:ext>
            </a:extLst>
          </p:cNvPr>
          <p:cNvSpPr txBox="1"/>
          <p:nvPr/>
        </p:nvSpPr>
        <p:spPr>
          <a:xfrm>
            <a:off x="10136607" y="16217662"/>
            <a:ext cx="1253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Grid Search Hyperparameter Space: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09C2A2-8A6D-405C-86AD-14BA1126DB11}"/>
              </a:ext>
            </a:extLst>
          </p:cNvPr>
          <p:cNvSpPr txBox="1"/>
          <p:nvPr/>
        </p:nvSpPr>
        <p:spPr>
          <a:xfrm>
            <a:off x="11679852" y="16997101"/>
            <a:ext cx="3147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04D469-4635-4D55-AB4F-01E49F4149AF}"/>
              </a:ext>
            </a:extLst>
          </p:cNvPr>
          <p:cNvSpPr txBox="1"/>
          <p:nvPr/>
        </p:nvSpPr>
        <p:spPr>
          <a:xfrm>
            <a:off x="16942393" y="17009801"/>
            <a:ext cx="5255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Regularization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5BD7E90-D689-4697-9E69-869F7D25E0A0}"/>
              </a:ext>
            </a:extLst>
          </p:cNvPr>
          <p:cNvSpPr txBox="1"/>
          <p:nvPr/>
        </p:nvSpPr>
        <p:spPr>
          <a:xfrm>
            <a:off x="16806429" y="17554731"/>
            <a:ext cx="5527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38" indent="-381038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</a:p>
          <a:p>
            <a:pPr marL="381038" indent="-381038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</a:p>
          <a:p>
            <a:pPr marL="381038" indent="-381038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CF1857-663D-4641-8707-0D9B9EBEA1C0}"/>
              </a:ext>
            </a:extLst>
          </p:cNvPr>
          <p:cNvSpPr txBox="1"/>
          <p:nvPr/>
        </p:nvSpPr>
        <p:spPr>
          <a:xfrm>
            <a:off x="10459563" y="18650062"/>
            <a:ext cx="58752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Hidden Layer Nodes: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Hidden Layer Nodes: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A6FD9B-2A26-4F38-B261-FC8578A7833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8" t="11329" r="8063" b="4933"/>
          <a:stretch/>
        </p:blipFill>
        <p:spPr>
          <a:xfrm>
            <a:off x="27742005" y="5523241"/>
            <a:ext cx="5075089" cy="3383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7838320-B977-4C35-A68E-B9C8C072CD82}"/>
                  </a:ext>
                </a:extLst>
              </p:cNvPr>
              <p:cNvSpPr/>
              <p:nvPr/>
            </p:nvSpPr>
            <p:spPr>
              <a:xfrm>
                <a:off x="23151831" y="10484969"/>
                <a:ext cx="5192861" cy="11592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400"/>
                  </a:spcAf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Fig. 7 (top): Epoch Curve for Selected NN; shaded regions represent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μ</m:t>
                    </m:r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±</m:t>
                    </m:r>
                    <m:r>
                      <m:rPr>
                        <m:nor/>
                      </m:rPr>
                      <a:rPr lang="en-US" sz="2200" b="0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400"/>
                  </a:spcAft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Fig. 8 (right): Confusion Matrix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7838320-B977-4C35-A68E-B9C8C072C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31" y="10484969"/>
                <a:ext cx="5192861" cy="1159292"/>
              </a:xfrm>
              <a:prstGeom prst="rect">
                <a:avLst/>
              </a:prstGeom>
              <a:blipFill>
                <a:blip r:embed="rId16"/>
                <a:stretch>
                  <a:fillRect l="-1526" t="-315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CEA052D-AFEE-4369-A3D6-3796F0D962C3}"/>
              </a:ext>
            </a:extLst>
          </p:cNvPr>
          <p:cNvCxnSpPr>
            <a:cxnSpLocks/>
          </p:cNvCxnSpPr>
          <p:nvPr/>
        </p:nvCxnSpPr>
        <p:spPr>
          <a:xfrm>
            <a:off x="30868483" y="5594435"/>
            <a:ext cx="0" cy="25603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Rectangle 3">
            <a:extLst>
              <a:ext uri="{FF2B5EF4-FFF2-40B4-BE49-F238E27FC236}">
                <a16:creationId xmlns:a16="http://schemas.microsoft.com/office/drawing/2014/main" id="{3147A13F-C396-4857-88F2-1A6DA9E4F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90" y="5503278"/>
            <a:ext cx="950378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Contemporary methods to analyze dewetting stages from optical microscopy</a:t>
            </a:r>
            <a:r>
              <a:rPr lang="en-US" altLang="en-US" sz="2800" dirty="0">
                <a:cs typeface="Arial" panose="020B0604020202020204" pitchFamily="34" charset="0"/>
              </a:rPr>
              <a:t> are limited to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manual classification. The project seeks to automate this process by using image processing techniques and machine learning. Magnitude independent features,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effectLst/>
                <a:cs typeface="Arial" panose="020B0604020202020204" pitchFamily="34" charset="0"/>
              </a:rPr>
              <a:t> such 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pixel skew, variance, and entropy,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along with their local deviations,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were used to train a simple feed forward neural network. From a dataset of 64 images, tuning was achieved by selecting the neural network hyperparameter configuration with the highest peak cross validation score. The selected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effectLst/>
                <a:cs typeface="Arial" panose="020B0604020202020204" pitchFamily="34" charset="0"/>
              </a:rPr>
              <a:t> model accurately classified approximately 80% of the testing set.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028" name="Picture 4" descr="https://ci3.googleusercontent.com/proxy/brwtshoO8pFoWzivuTYTqzcgbWbRGn8NoU8wERg_KJm3_dQfWsYZcw5SQWdMXaW39zaYym3eYNHeLECuyKxBYYGgtAEK-2_yIIyzW_3fVstyQg=s0-d-e1-ft#https://ssl.gstatic.com/ui/v1/icons/mail/images/cleardot.gif">
            <a:extLst>
              <a:ext uri="{FF2B5EF4-FFF2-40B4-BE49-F238E27FC236}">
                <a16:creationId xmlns:a16="http://schemas.microsoft.com/office/drawing/2014/main" id="{E0A3DD93-CAF4-4E16-BA0F-0CE056B57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68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ci3.googleusercontent.com/proxy/brwtshoO8pFoWzivuTYTqzcgbWbRGn8NoU8wERg_KJm3_dQfWsYZcw5SQWdMXaW39zaYym3eYNHeLECuyKxBYYGgtAEK-2_yIIyzW_3fVstyQg=s0-d-e1-ft#https://ssl.gstatic.com/ui/v1/icons/mail/images/cleardot.gif">
            <a:extLst>
              <a:ext uri="{FF2B5EF4-FFF2-40B4-BE49-F238E27FC236}">
                <a16:creationId xmlns:a16="http://schemas.microsoft.com/office/drawing/2014/main" id="{28ED04E3-EDFF-4B01-AAF2-F76B89DDF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22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ci3.googleusercontent.com/proxy/brwtshoO8pFoWzivuTYTqzcgbWbRGn8NoU8wERg_KJm3_dQfWsYZcw5SQWdMXaW39zaYym3eYNHeLECuyKxBYYGgtAEK-2_yIIyzW_3fVstyQg=s0-d-e1-ft#https://ssl.gstatic.com/ui/v1/icons/mail/images/cleardot.gif">
            <a:extLst>
              <a:ext uri="{FF2B5EF4-FFF2-40B4-BE49-F238E27FC236}">
                <a16:creationId xmlns:a16="http://schemas.microsoft.com/office/drawing/2014/main" id="{75A6BA5A-31E5-4A0F-BED6-7F7856192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3730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ssl.gstatic.com/ui/v1/icons/mail/images/cleardot.gif">
            <a:extLst>
              <a:ext uri="{FF2B5EF4-FFF2-40B4-BE49-F238E27FC236}">
                <a16:creationId xmlns:a16="http://schemas.microsoft.com/office/drawing/2014/main" id="{40CCCC6D-04F3-43A7-B1C8-C5A3B2D25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3413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E02A64F7-AAC6-4C98-B7D1-FDF2626CEBED}"/>
              </a:ext>
            </a:extLst>
          </p:cNvPr>
          <p:cNvSpPr/>
          <p:nvPr/>
        </p:nvSpPr>
        <p:spPr>
          <a:xfrm>
            <a:off x="23138761" y="5557104"/>
            <a:ext cx="5979907" cy="5411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Highest CV Model</a:t>
            </a:r>
          </a:p>
          <a:p>
            <a:pPr marL="466725" indent="-466725"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Architecture: (12,8,8,4)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Regularization: L1(10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Epoch: 500</a:t>
            </a:r>
          </a:p>
          <a:p>
            <a:pPr>
              <a:spcAft>
                <a:spcPts val="400"/>
              </a:spcAft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Accuracy Metrics</a:t>
            </a:r>
          </a:p>
          <a:p>
            <a:pPr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*20% of dataset was reserved</a:t>
            </a:r>
          </a:p>
          <a:p>
            <a:pPr>
              <a:spcAft>
                <a:spcPts val="4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testing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Training: 0.882 ± 0.035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Validation: 0.855 ± 0.163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Testing: 0.786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49B204-E22F-4E48-B9C4-E77A002CE431}"/>
              </a:ext>
            </a:extLst>
          </p:cNvPr>
          <p:cNvSpPr txBox="1"/>
          <p:nvPr/>
        </p:nvSpPr>
        <p:spPr>
          <a:xfrm>
            <a:off x="10042715" y="21025219"/>
            <a:ext cx="12272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9505" indent="-389505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6. Compare optimal cross-validation scores before overfitting across models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24023E-DA62-4E8E-A3A5-9005D81F456B}"/>
              </a:ext>
            </a:extLst>
          </p:cNvPr>
          <p:cNvSpPr txBox="1"/>
          <p:nvPr/>
        </p:nvSpPr>
        <p:spPr>
          <a:xfrm>
            <a:off x="10042715" y="20072071"/>
            <a:ext cx="12272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9505" indent="-389505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5. Measure training and cross-validation (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k=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10) scores every 25 epochs up to 800 epochs 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91E53E2-F162-46DB-A4F4-3BF20975CBA5}"/>
              </a:ext>
            </a:extLst>
          </p:cNvPr>
          <p:cNvGrpSpPr/>
          <p:nvPr/>
        </p:nvGrpSpPr>
        <p:grpSpPr>
          <a:xfrm>
            <a:off x="10934921" y="17565495"/>
            <a:ext cx="4669865" cy="1023022"/>
            <a:chOff x="10895588" y="18032870"/>
            <a:chExt cx="4558418" cy="1158722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B1AC748-093D-40B1-BC44-51181EFD51AD}"/>
                </a:ext>
              </a:extLst>
            </p:cNvPr>
            <p:cNvSpPr/>
            <p:nvPr/>
          </p:nvSpPr>
          <p:spPr>
            <a:xfrm>
              <a:off x="10895588" y="18032870"/>
              <a:ext cx="1095358" cy="115872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BA5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66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03EB161-5EFA-45B0-A7DA-3881CD4F6474}"/>
                </a:ext>
              </a:extLst>
            </p:cNvPr>
            <p:cNvSpPr/>
            <p:nvPr/>
          </p:nvSpPr>
          <p:spPr>
            <a:xfrm>
              <a:off x="12265847" y="18032870"/>
              <a:ext cx="1825844" cy="115872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BA5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66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Hidden</a:t>
              </a:r>
            </a:p>
            <a:p>
              <a:pPr algn="ctr"/>
              <a:r>
                <a:rPr lang="en-US" sz="266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Layers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12C73F5-7D6B-45DE-92DC-82D79CB0FAEC}"/>
                </a:ext>
              </a:extLst>
            </p:cNvPr>
            <p:cNvSpPr/>
            <p:nvPr/>
          </p:nvSpPr>
          <p:spPr>
            <a:xfrm>
              <a:off x="14358128" y="18032870"/>
              <a:ext cx="1095878" cy="115872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BA5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667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0DD27763-94B9-4554-AD13-4D44830F27C4}"/>
                </a:ext>
              </a:extLst>
            </p:cNvPr>
            <p:cNvSpPr/>
            <p:nvPr/>
          </p:nvSpPr>
          <p:spPr>
            <a:xfrm>
              <a:off x="11820553" y="18315477"/>
              <a:ext cx="640080" cy="640080"/>
            </a:xfrm>
            <a:prstGeom prst="rightArrow">
              <a:avLst/>
            </a:prstGeom>
            <a:solidFill>
              <a:srgbClr val="6BA5FB"/>
            </a:solidFill>
            <a:ln>
              <a:solidFill>
                <a:srgbClr val="2A6B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5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29E8BA7A-BCE9-4454-9B6B-A322CEDCD0C2}"/>
                </a:ext>
              </a:extLst>
            </p:cNvPr>
            <p:cNvSpPr/>
            <p:nvPr/>
          </p:nvSpPr>
          <p:spPr>
            <a:xfrm>
              <a:off x="13980187" y="18315477"/>
              <a:ext cx="640080" cy="640080"/>
            </a:xfrm>
            <a:prstGeom prst="rightArrow">
              <a:avLst/>
            </a:prstGeom>
            <a:solidFill>
              <a:srgbClr val="6BA5FB"/>
            </a:solidFill>
            <a:ln>
              <a:solidFill>
                <a:srgbClr val="2A6B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5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A1E96A35-E858-4EE0-829B-CD5D9069873E}"/>
              </a:ext>
            </a:extLst>
          </p:cNvPr>
          <p:cNvSpPr txBox="1"/>
          <p:nvPr/>
        </p:nvSpPr>
        <p:spPr>
          <a:xfrm>
            <a:off x="18777814" y="18158195"/>
            <a:ext cx="3653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Penalties @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1CDE6476-4940-484E-B12E-FC6F4F7285A0}"/>
              </a:ext>
            </a:extLst>
          </p:cNvPr>
          <p:cNvSpPr/>
          <p:nvPr/>
        </p:nvSpPr>
        <p:spPr>
          <a:xfrm>
            <a:off x="17989131" y="18139903"/>
            <a:ext cx="655729" cy="565119"/>
          </a:xfrm>
          <a:prstGeom prst="rightArrow">
            <a:avLst/>
          </a:prstGeom>
          <a:solidFill>
            <a:srgbClr val="6BA5FB"/>
          </a:solidFill>
          <a:ln>
            <a:solidFill>
              <a:srgbClr val="2A6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6A277E-375C-4D4F-B003-BE8A1BE960C3}"/>
              </a:ext>
            </a:extLst>
          </p:cNvPr>
          <p:cNvSpPr txBox="1"/>
          <p:nvPr/>
        </p:nvSpPr>
        <p:spPr>
          <a:xfrm>
            <a:off x="19690151" y="14332836"/>
            <a:ext cx="301752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389505" indent="-389505" algn="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= 12 features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6FADAD9-3ABA-4773-B606-4B3ED49CF598}"/>
              </a:ext>
            </a:extLst>
          </p:cNvPr>
          <p:cNvSpPr txBox="1"/>
          <p:nvPr/>
        </p:nvSpPr>
        <p:spPr>
          <a:xfrm>
            <a:off x="16694882" y="19208440"/>
            <a:ext cx="601278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389505" indent="-389505" algn="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= 30 models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3895F97-BF87-46CE-A156-C4120C70E51A}"/>
              </a:ext>
            </a:extLst>
          </p:cNvPr>
          <p:cNvSpPr/>
          <p:nvPr/>
        </p:nvSpPr>
        <p:spPr>
          <a:xfrm>
            <a:off x="23236021" y="12792642"/>
            <a:ext cx="9400789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spcAft>
                <a:spcPts val="4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Meaningful supervised learning is evident.</a:t>
            </a:r>
          </a:p>
          <a:p>
            <a:pPr marL="514350" indent="-514350" algn="just">
              <a:spcAft>
                <a:spcPts val="4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Decision boundary between class 2 and 3 needs improvement.</a:t>
            </a:r>
          </a:p>
          <a:p>
            <a:pPr marL="514350" indent="-514350" algn="just">
              <a:spcAft>
                <a:spcPts val="40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Proximity of training and cross-validation accuracies suggest model is not overfitting to the training sample.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69D227B-19F3-4355-9ED0-031FAF0ED28F}"/>
              </a:ext>
            </a:extLst>
          </p:cNvPr>
          <p:cNvSpPr txBox="1"/>
          <p:nvPr/>
        </p:nvSpPr>
        <p:spPr>
          <a:xfrm>
            <a:off x="30298022" y="8815350"/>
            <a:ext cx="926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8B142F-E3A2-47CA-B117-673720D34401}"/>
              </a:ext>
            </a:extLst>
          </p:cNvPr>
          <p:cNvSpPr txBox="1"/>
          <p:nvPr/>
        </p:nvSpPr>
        <p:spPr>
          <a:xfrm rot="16200000">
            <a:off x="27089451" y="6773377"/>
            <a:ext cx="10219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3D29F-EFE7-4A5F-AFC3-D9D65100998F}"/>
              </a:ext>
            </a:extLst>
          </p:cNvPr>
          <p:cNvSpPr/>
          <p:nvPr/>
        </p:nvSpPr>
        <p:spPr>
          <a:xfrm>
            <a:off x="28567811" y="9228248"/>
            <a:ext cx="3968818" cy="238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lvl="1">
              <a:spcAft>
                <a:spcPts val="400"/>
              </a:spcAft>
            </a:pP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>
              <a:spcAft>
                <a:spcPts val="400"/>
              </a:spcAft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	   0    0    0</a:t>
            </a:r>
          </a:p>
          <a:p>
            <a:pPr>
              <a:spcAft>
                <a:spcPts val="400"/>
              </a:spcAft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	   1    2    0</a:t>
            </a:r>
          </a:p>
          <a:p>
            <a:pPr>
              <a:spcAft>
                <a:spcPts val="400"/>
              </a:spcAft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	   0    4    0</a:t>
            </a:r>
          </a:p>
          <a:p>
            <a:pPr>
              <a:spcAft>
                <a:spcPts val="400"/>
              </a:spcAft>
            </a:pP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	   0    1    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1901D-E688-4C4E-8D8F-996B439D0708}"/>
              </a:ext>
            </a:extLst>
          </p:cNvPr>
          <p:cNvSpPr/>
          <p:nvPr/>
        </p:nvSpPr>
        <p:spPr>
          <a:xfrm>
            <a:off x="23014278" y="20799002"/>
            <a:ext cx="9728357" cy="978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Meredith, J. C., Smith, A. P., Karim, A., &amp; Amis, E. J. (2000). Combinatorial materials science for polymer thin-film dewetting. </a:t>
            </a:r>
            <a:r>
              <a:rPr lang="en-US" sz="1900" i="1" dirty="0">
                <a:solidFill>
                  <a:srgbClr val="222222"/>
                </a:solidFill>
                <a:latin typeface="arial" panose="020B0604020202020204" pitchFamily="34" charset="0"/>
              </a:rPr>
              <a:t>Macromolecules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, </a:t>
            </a:r>
            <a:r>
              <a:rPr lang="en-US" sz="1900" i="1" dirty="0">
                <a:solidFill>
                  <a:srgbClr val="222222"/>
                </a:solidFill>
                <a:latin typeface="arial" panose="020B0604020202020204" pitchFamily="34" charset="0"/>
              </a:rPr>
              <a:t>33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(26), 9747-9756.</a:t>
            </a:r>
          </a:p>
          <a:p>
            <a:pPr marL="233363" indent="-233363" algn="just"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rgbClr val="222222"/>
                </a:solidFill>
                <a:latin typeface="arial" panose="020B0604020202020204" pitchFamily="34" charset="0"/>
              </a:rPr>
              <a:t>Raschka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, S., &amp; </a:t>
            </a:r>
            <a:r>
              <a:rPr lang="en-US" sz="1900" dirty="0" err="1">
                <a:solidFill>
                  <a:srgbClr val="222222"/>
                </a:solidFill>
                <a:latin typeface="arial" panose="020B0604020202020204" pitchFamily="34" charset="0"/>
              </a:rPr>
              <a:t>Mirjalili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, V. (2017). </a:t>
            </a:r>
            <a:r>
              <a:rPr lang="en-US" sz="1900" i="1" dirty="0">
                <a:solidFill>
                  <a:srgbClr val="222222"/>
                </a:solidFill>
                <a:latin typeface="arial" panose="020B0604020202020204" pitchFamily="34" charset="0"/>
              </a:rPr>
              <a:t>Python machine learning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. </a:t>
            </a:r>
            <a:r>
              <a:rPr lang="en-US" sz="1900" dirty="0" err="1">
                <a:solidFill>
                  <a:srgbClr val="222222"/>
                </a:solidFill>
                <a:latin typeface="arial" panose="020B0604020202020204" pitchFamily="34" charset="0"/>
              </a:rPr>
              <a:t>Packt</a:t>
            </a:r>
            <a:r>
              <a:rPr lang="en-US" sz="1900" dirty="0">
                <a:solidFill>
                  <a:srgbClr val="222222"/>
                </a:solidFill>
                <a:latin typeface="arial" panose="020B0604020202020204" pitchFamily="34" charset="0"/>
              </a:rPr>
              <a:t> Publishing Ltd.</a:t>
            </a:r>
            <a:endParaRPr lang="en-US" sz="19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74DB3C8-A252-4D7A-A1D7-098F0F35BB9F}"/>
              </a:ext>
            </a:extLst>
          </p:cNvPr>
          <p:cNvSpPr/>
          <p:nvPr/>
        </p:nvSpPr>
        <p:spPr>
          <a:xfrm>
            <a:off x="23180837" y="19823075"/>
            <a:ext cx="9532014" cy="914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BB1D6A-44BA-47ED-A2AA-86FAD8BA96C3}"/>
              </a:ext>
            </a:extLst>
          </p:cNvPr>
          <p:cNvSpPr txBox="1"/>
          <p:nvPr/>
        </p:nvSpPr>
        <p:spPr>
          <a:xfrm>
            <a:off x="30035501" y="9250789"/>
            <a:ext cx="2156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Predicted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22B599-289C-4D16-98EB-F43B88FD8823}"/>
              </a:ext>
            </a:extLst>
          </p:cNvPr>
          <p:cNvSpPr txBox="1"/>
          <p:nvPr/>
        </p:nvSpPr>
        <p:spPr>
          <a:xfrm rot="16200000">
            <a:off x="27908170" y="10571754"/>
            <a:ext cx="1661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Actual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D5FE08-4593-466E-809B-3A2D184704DC}"/>
              </a:ext>
            </a:extLst>
          </p:cNvPr>
          <p:cNvSpPr/>
          <p:nvPr/>
        </p:nvSpPr>
        <p:spPr>
          <a:xfrm>
            <a:off x="28357763" y="9212707"/>
            <a:ext cx="4241200" cy="2416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1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4943</TotalTime>
  <Words>599</Words>
  <Application>Microsoft Office PowerPoint</Application>
  <PresentationFormat>Custom</PresentationFormat>
  <Paragraphs>93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</vt:lpstr>
      <vt:lpstr>Calibri</vt:lpstr>
      <vt:lpstr>Calibri Light</vt:lpstr>
      <vt:lpstr>Cambria Math</vt:lpstr>
      <vt:lpstr>Courier New</vt:lpstr>
      <vt:lpstr>Georgia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Kim</dc:creator>
  <cp:lastModifiedBy>Chris Kim</cp:lastModifiedBy>
  <cp:revision>128</cp:revision>
  <dcterms:created xsi:type="dcterms:W3CDTF">2018-04-29T02:11:39Z</dcterms:created>
  <dcterms:modified xsi:type="dcterms:W3CDTF">2018-08-06T17:12:07Z</dcterms:modified>
</cp:coreProperties>
</file>